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.jpeg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11.jpeg" /><Relationship Id="rId4" Type="http://schemas.openxmlformats.org/officeDocument/2006/relationships/image" Target="../media/image12.jpeg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4" y="0"/>
            <a:ext cx="201168" cy="6858000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64592" cy="164592"/>
          </a:xfrm>
          <a:prstGeom prst="ellipse">
            <a:avLst/>
          </a:prstGeom>
          <a:solidFill>
            <a:srgbClr val="DDEDEE">
              <a:alpha val="70000"/>
            </a:srgbClr>
          </a:solidFill>
          <a:ln w="12700">
            <a:solidFill>
              <a:srgbClr val="DDED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57200"/>
            <a:ext cx="128016" cy="128016"/>
          </a:xfrm>
          <a:prstGeom prst="ellipse">
            <a:avLst/>
          </a:prstGeom>
          <a:solidFill>
            <a:srgbClr val="F3E4DA">
              <a:alpha val="76000"/>
            </a:srgbClr>
          </a:solidFill>
          <a:ln w="12700">
            <a:solidFill>
              <a:srgbClr val="F3E4D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MAH 制度的分析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从审批提速走向组织重构、状态转移与行业均衡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王勇    杨晨丹妮    陈思明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8640" y="52395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北京大学新结构经济学研究院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二〇二四年十月十五日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85953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这次重构把旧 deck 的核心背景保留下来，但把主线改成：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207008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07008"/>
            <a:ext cx="473659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8988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MAH 不只影响审批速度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30752" y="1682496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它改变了谁能持证、谁能外包、谁能在不自建产能的情况下商业化原研药。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473659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420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重点从“企业分化”推进到“企业状态转移”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真正要展示的是 A/B/C 类型之间如何进入、切换、退出，以及 entry composition 如何改变。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566160" y="3511296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511296"/>
            <a:ext cx="473659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6941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结论从 PE 创新效应扩展到 GE / welfare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30752" y="3986784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创新增益、委托生产需求、生产者利润与净福利一起进入行业均衡的解释框架。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66160" y="48280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firm boundaries / 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62544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clean rebuild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MAH matters beyond approval 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医药升级、强监管行业与制度供给的匹配问题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1325880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664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十四五 / 医药健康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1536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“十四五”把医药健康列为生物经济重点领域，问题不只是多审快审，而是制度能否匹配产业升级。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65960"/>
            <a:ext cx="23957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产业升级压力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中国医药产业正经历“仿制药 -&gt; 创新药”“生产导向 -&gt; 研发导向”的升级，创新能否稳定转化成为核心约束。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65960"/>
            <a:ext cx="239572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强监管并非背景噪音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药品审评、持证资格、委托生产规则会直接影响谁能进入、谁能保有创新回报、谁有动力投资原研药。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1965960"/>
            <a:ext cx="239572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216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在当前发展阶段，MAH 是否是一项更适宜的制度安排，并通过组织重构而不仅是审批提速来促进创新？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99432"/>
            <a:ext cx="7516368" cy="109728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88289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核心直觉：制度改革如果改变的是商业化摩擦与组织边界，那么最先出现的事实不应只是“创新更多”，而应是“谁在创新、谁在生产、谁在转型”发生变化。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Question and Difference from Jia et al. (2023)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从审批/区域创新故事推进到 firm boundaries 与行业均衡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3611880" cy="4261104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35024"/>
            <a:ext cx="3611880" cy="109728"/>
          </a:xfrm>
          <a:prstGeom prst="rect">
            <a:avLst/>
          </a:prstGeom>
          <a:solidFill>
            <a:srgbClr val="D7D1C5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517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已有文献更像在问什么？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1335024"/>
            <a:ext cx="3703320" cy="42611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35024"/>
            <a:ext cx="370332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1790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这篇文章的新问题是什么？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政策是否缩短审评时长、改善创新环境？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2262835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区域或企业层面的创新申请是否增加？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" y="265115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机制更多停留在审批、市场准入、企业性质等维度。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3039466"/>
            <a:ext cx="3127248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解释通常是 partial equilibrium：政策冲击 -&gt; 创新结果。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是否改变了研发所有权与生产能力之间的制度边界？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73168" y="2477414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企业是否在 integrated / RD / production 之间发生重组与状态转移？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73168" y="3080309"/>
            <a:ext cx="3182112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创新增量来自 entrant composition、incumbent switching，还是两者共同作用？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773168" y="3897782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层面上，委托生产需求、生产者利润与净福利如何被重新分配？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334256" y="1645920"/>
            <a:ext cx="0" cy="3584448"/>
          </a:xfrm>
          <a:prstGeom prst="line">
            <a:avLst/>
          </a:prstGeom>
          <a:noFill/>
          <a:ln w="15240">
            <a:solidFill>
              <a:srgbClr val="D7D1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2907792" cy="3840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9262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旧主线：审批 / 创新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28032" y="4892040"/>
            <a:ext cx="3182112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99262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新主线：边界 / 重组 / GE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Upgrade and Reform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中最值得保留的事实基础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389888"/>
            <a:ext cx="4078224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554480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5956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59536" y="290486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59536" y="346301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86169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9808" y="521208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的药品注册申请趋势图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47488" y="1572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2007 到 2023，医药创新活动与监管改革同步推进。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产业升级方向已经从化学仿制药逐步走向创新药与生物药。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649728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年后的药品审评审批改革，使 MAH 成为最关键的制度节点之一。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287776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因此需要把“创新数量上升”与“组织边界改变”放在同一张图里理解。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4023360"/>
            <a:ext cx="2926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4336" y="4023360"/>
            <a:ext cx="2926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2062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新叙事要做的不是替换背景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38928" y="449884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而是在这一背景之上，把故事从“改革促进创新”推进到“改革重写了谁能创新、谁能生产、谁能存活”。</a:t>
            </a:r>
            <a:endParaRPr lang="en-US" sz="1260" dirty="0"/>
          </a:p>
        </p:txBody>
      </p:sp>
      <p:sp>
        <p:nvSpPr>
          <p:cNvPr id="27" name="FigureCover image3.png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28" name="Figure image3.png" descr="Figure 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69881"/>
            <a:ext cx="3931920" cy="28622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Pre-MAH Bundled Regime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持证资格与生产能力捆绑，创新所有权难以独立保留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65376"/>
            <a:ext cx="16459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研发机构 / 实验室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63824" y="1865376"/>
            <a:ext cx="14173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1755648"/>
            <a:ext cx="1847088" cy="67665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9933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(持证 + 生产)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61488"/>
            <a:ext cx="6126480" cy="100584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054096"/>
            <a:ext cx="5650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制度约束：若想获得最终市场回报，研发主体通常需要把成果转给具备生产资质的一体化企业，或者自己承担建厂与资质成本。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1572768"/>
            <a:ext cx="1243584" cy="3584448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572768"/>
            <a:ext cx="124358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33488" y="2103120"/>
            <a:ext cx="932688" cy="47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创新所有权与产能绑定。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33488" y="265013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商业化门槛高。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33488" y="3015894"/>
            <a:ext cx="932688" cy="6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incumbents 更占优。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33488" y="37449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委托生产市场不发达。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Post-MAH Separation of Ownership and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允许研发主体持证，生产可以外包给专业制造企业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92224"/>
            <a:ext cx="1865376" cy="65836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08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持证主体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(研发机构 / 企业)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82112" y="1865376"/>
            <a:ext cx="1719072" cy="51206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保留所有权 / 持证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4064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792224"/>
            <a:ext cx="1993392" cy="65836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(CMO / CDMO)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98064"/>
            <a:ext cx="6565392" cy="104241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8152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制度含义：原研药 idea 的商业化价值不再必须通过自建产能才能实现，MAH 把“持证”和“生产”拆开，委托制造开始有了市场。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44384" y="1499616"/>
            <a:ext cx="841248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499616"/>
            <a:ext cx="8412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35824" y="20665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保持持证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7735824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生产专业化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735824" y="2798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外包需求上升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735824" y="3163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进入门槛下降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Firm Differentiation to Firm-State Transitions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这是一张桥接 slide：把 old story 接到 new story 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499616"/>
            <a:ext cx="1261872" cy="42062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6093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53312" y="2761488"/>
            <a:ext cx="1335024" cy="420624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87121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RD type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19088" y="2761488"/>
            <a:ext cx="1481328" cy="420624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712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4370832"/>
            <a:ext cx="1408176" cy="420624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4805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E: entrants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32704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15184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96896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41248" y="5074920"/>
            <a:ext cx="7333488" cy="749808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074920"/>
            <a:ext cx="733348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的机制不是让企业“自动更创新”，而是先降低商业化摩擦和重组门槛，再诱导 entry、switching、outsourcing 与 survival 一起变化。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Classification and Theory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current four-way classification 翻译成理论状态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23444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00784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984248" y="1554480"/>
            <a:ext cx="192024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00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904488" y="1554480"/>
            <a:ext cx="164592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700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理论映射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50408" y="1554480"/>
            <a:ext cx="269748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700784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 deck 里的作用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" y="2011680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5798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984248" y="2011680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579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研发人员占优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904488" y="2011680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1579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50408" y="2011680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1579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 theory 中的研发专门化企业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2706624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5292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984248" y="2706624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8529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生产人员占优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904488" y="2706624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8529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0408" y="2706624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85292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outsourcing demand 的生产侧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401568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54787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1984248" y="3401568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547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研发与生产同时显著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904488" y="3401568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54787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0408" y="3401568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54787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经验上的 integrated type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096512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24281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C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1984248" y="4096512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2428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短期重组状态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904488" y="4096512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2428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过渡状态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0408" y="4096512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2428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保留在实证里，但不作为长期理论类型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41248" y="5010912"/>
            <a:ext cx="7242048" cy="74980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2760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关键处理：把 empirical mix 解释为 integrated A，把 transition 解释为短期组织重构的观测状态。这样理论和实证就能对上。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First-Stage Facts Need to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first-stage empirical goal = reorganization, not only more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36192"/>
            <a:ext cx="35478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Type shares over 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rd / prod / mix / transition 的占比路径，再看哪些变化是在 2016 以后加速的。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572000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36192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Transition matrices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重点不是把所有数字都做满，而是盯住 mix→rd、mix→prod、prod→mix、rd→mix 以及各类型 exit。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68096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236976"/>
            <a:ext cx="354787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Entry composition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entry→rd/prod/mix/transition 单独拿出来；不要和 incumbent switching 混在一起解释。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36976"/>
            <a:ext cx="3547872" cy="109728"/>
          </a:xfrm>
          <a:prstGeom prst="rect">
            <a:avLst/>
          </a:prstGeom>
          <a:solidFill>
            <a:srgbClr val="D8B36A"/>
          </a:solidFill>
          <a:ln w="12700">
            <a:solidFill>
              <a:srgbClr val="D8B3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Innovation reallocation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把创新数量、创新质量和创新份额按类型拆开，看增量来自“更多 rd firms”还是“rd 内部更强”。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87552" y="5047488"/>
            <a:ext cx="6931152" cy="71323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28523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只有把这四层事实串起来，MAH 的机制故事才会从“创新回归”变成“行业组织重构”。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基线矩阵先看稳定性、退出与 within-regime transitions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操作规则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231136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origin years = 2011-2014。</a:t>
            </a:r>
            <a:endParaRPr lang="en-US" sz="1060" dirty="0"/>
          </a:p>
        </p:txBody>
      </p:sp>
      <p:sp>
        <p:nvSpPr>
          <p:cNvPr id="80" name="Text 78"/>
          <p:cNvSpPr/>
          <p:nvPr/>
        </p:nvSpPr>
        <p:spPr>
          <a:xfrm>
            <a:off x="6620256" y="2921813"/>
            <a:ext cx="1389888" cy="7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2015→2016 跨制度阶段污染 pre matrix。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6620256" y="3784803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counts，再做 row shares。</a:t>
            </a:r>
            <a:endParaRPr lang="en-US" sz="1060" dirty="0"/>
          </a:p>
        </p:txBody>
      </p:sp>
      <p:sp>
        <p:nvSpPr>
          <p:cNvPr id="82" name="Text 80"/>
          <p:cNvSpPr/>
          <p:nvPr/>
        </p:nvSpPr>
        <p:spPr>
          <a:xfrm>
            <a:off x="6620256" y="4475480"/>
            <a:ext cx="1389888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这一页最重要的是读对角线与 exit。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E6ECD8"/>
          </a:solidFill>
          <a:ln w="12700">
            <a:solidFill>
              <a:srgbClr val="E6EC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" y="530352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这一页目前放的是模板结构，等 firm-year panel 固定后直接回填真实 row shares。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重点不在“全部都变”，而在关键方向的概率是否上升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139696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years = 2016-2022。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20256" y="2773680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post，再拆 pilot / national。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407664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比较关键 off-diagonal row shares。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4041648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低频转型时再做 hazard / cumulative。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530352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如果政策后只是“创新更多”但组织方向不变，GE 叙事就站不住；所以关键是把这页做成机制证据而不是装饰。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 Must Be Separated from Incumbent Switching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这两条边际在经济学上完全不同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609344"/>
            <a:ext cx="338328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09344"/>
            <a:ext cx="33832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margin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07008" y="2487168"/>
            <a:ext cx="1170432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42032" y="2560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16352" y="2176272"/>
            <a:ext cx="859536" cy="347472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2494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16352" y="2688336"/>
            <a:ext cx="859536" cy="347472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614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16352" y="3200400"/>
            <a:ext cx="859536" cy="347472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73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16352" y="3712464"/>
            <a:ext cx="859536" cy="347472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7856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问题：政策后新进入者是否更偏向 rd / biotech / 原研药导向？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72000" y="1609344"/>
            <a:ext cx="365760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09344"/>
            <a:ext cx="365760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922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Incumbent switching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16752" y="2157984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65776" y="312724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67728" y="312724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6048" y="422452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问题：现有企业是否因为 MAH 更容易专业化、重新整合或退出？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05840" y="5285232"/>
            <a:ext cx="7095744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40410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not mix these margins. entry composition tells us who wants to join the market; incumbent switching tells us how existing firms reorganize.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Descriptive Differentiation Evidence Already 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里已有一张很有用的不同类型企业数量变化趋势图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17904"/>
            <a:ext cx="4187952" cy="413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168249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7236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" y="3088477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32688" y="366711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image5.jpeg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408041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041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的不同类型企业数量变化趋势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30368" y="1554480"/>
            <a:ext cx="2779776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554480"/>
            <a:ext cx="277977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373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can already say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94960" y="20299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这张图至少表明“企业分化”并不是抽象概念，而是 deck 中已经出现的描述性事实。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66944" y="2926080"/>
            <a:ext cx="2688336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下一步要把数量趋势升级成 type shares over time。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266944" y="3538118"/>
            <a:ext cx="2688336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再把创新按类型拆开，看增量究竟来自谁。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66944" y="3935578"/>
            <a:ext cx="268833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之后再放 transition matrix 与 entry composition，整条事实链就能闭合。</a:t>
            </a:r>
            <a:endParaRPr lang="en-US" sz="1320" dirty="0"/>
          </a:p>
        </p:txBody>
      </p:sp>
      <p:sp>
        <p:nvSpPr>
          <p:cNvPr id="26" name="FigureCover image5.jpeg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27" name="Figure image5.jpeg" descr="Figure 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90168"/>
            <a:ext cx="4041648" cy="24239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弱整合的新结构经济学版本：development stage + organizational choice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09344"/>
            <a:ext cx="21396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 xi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 M ∈ {0,1}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90672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609344"/>
            <a:ext cx="21396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types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55264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integrated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RD specialized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production specialized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13248" y="1609344"/>
            <a:ext cx="268833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609344"/>
            <a:ext cx="268833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79222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2084832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/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welfare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907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9936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" y="3895344"/>
            <a:ext cx="7077456" cy="118872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224528"/>
            <a:ext cx="652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 发展阶段与制度适配 -&gt; 商业化摩擦下降 / 重组门槛下降 -&gt; A/B/C 之间的进入、切换与退出 -&gt; 创新与行业均衡重排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Timing and Key Choices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把模型收成 JDE-friendly 的中等复杂度版本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01952"/>
            <a:ext cx="17830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潜在进入者 E 决定是否以 B / C 进入。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96896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901952"/>
            <a:ext cx="1783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 &amp; implementation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产生 idea，并决定外包给 C 还是转回 A。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645152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901952"/>
            <a:ext cx="178308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Switching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47488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在组织边界之间做离散调整。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1901952"/>
            <a:ext cx="1783080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Exit / stationary equilibrium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95744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存活、退出与分布共同决定行业稳态。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914400" y="5010912"/>
            <a:ext cx="7187184" cy="62179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21208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这四块已经足够：三类企业 + implementation 选择 + 状态转移 + 委托生产市场清算。没有必要再把融资合同或复杂并购结构塞进主模型。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and Reduced Frictions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把“适宜制度安排”写成 commercialization friction 与 switching cost 的下降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3438144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72768"/>
            <a:ext cx="3438144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Reduced-form objects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Lambda(z, xi)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between firm capability and development stage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tau(z, xi, M) = base tau - M * Delta_tau * Lambda(z, xi)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kappa_sj(z, xi, M) = base kappa_sj - M * Delta_sj * Lambda(z, xi)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354787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72768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556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降低 B 型企业把原研药 idea 商业化的制度摩擦 tau。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9744" y="2685085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也降低 A/B/C 之间离散重组的门槛 kappa_sj。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809744" y="330362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发展阶段越高、企业能力越强，这两个渠道的政策效应越大。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4809744" y="392216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这就是“有为政府 + 有效市场”进入模型的地方。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Manufacturing Market and 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的商业化选择与 C 的受托生产能力在行业内部清算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938528"/>
            <a:ext cx="1481328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665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generate ideas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0944" y="1938528"/>
            <a:ext cx="182880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choice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10912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1700784" cy="457200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6654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4128" y="2743200"/>
            <a:ext cx="6199632" cy="113385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312724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Market-clearing condition: D_m(p_m, xi; M) = S_m(p_m, xi; w)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7388352" y="1700784"/>
            <a:ext cx="84124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700784"/>
            <a:ext cx="841248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18836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479792" y="215798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479792" y="2678989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outsourcing demand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479792" y="319999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79792" y="3720998"/>
            <a:ext cx="640080" cy="61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and welfare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Transitions, Stationary Equilibrium, and Welfare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净福利是正效应与负效应比较后的条件性结论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" y="1956816"/>
            <a:ext cx="1024128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56816" y="2011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22576" y="1572768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664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22576" y="230428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22576" y="303580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11296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68496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07408" y="2615184"/>
            <a:ext cx="1097280" cy="402336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stationary dist.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32704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53328" y="2615184"/>
            <a:ext cx="1078992" cy="40233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15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499616"/>
            <a:ext cx="91440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99616"/>
            <a:ext cx="91440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8249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/ -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88352" y="1993392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innovation gain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388352" y="2520899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reallocation gain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88352" y="3048406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producer loss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388352" y="3575914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adjustment cost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77824" y="5413248"/>
            <a:ext cx="6254496" cy="25603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486400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message: welfare is not automatically positive; it depends on whether innovation and reallocation gains dominate producer-side losses and reorganization costs.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事实先行：先把 reduced-form、transition 和 reorganization 做扎实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426464"/>
            <a:ext cx="7424928" cy="67665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26464"/>
            <a:ext cx="74249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当前最优组合不是先冲完整结构模型，而是：DID / event study + transition matrices + commercialization 证据 + 中等复杂度行业模型。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69264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image7.png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59536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区域层面模型设定（原 deck 截图）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608576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91456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91456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image8.png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681728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企业层面模型设定（原 deck 截图）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6112" y="51023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区域层面：看 MAH 对创新数量、结构、质量，以及与发展阶段匹配度的交互效应。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736592" y="510235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企业层面：看 MAH 是否通过企业分化和 rd-type 企业扩张来推动创新。</a:t>
            </a:r>
            <a:endParaRPr lang="en-US" sz="1160" dirty="0"/>
          </a:p>
        </p:txBody>
      </p:sp>
      <p:sp>
        <p:nvSpPr>
          <p:cNvPr id="32" name="FigureCover image7.png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3" name="Figure image7.png" descr="Figure 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650646"/>
            <a:ext cx="3364992" cy="1831027"/>
          </a:xfrm>
          <a:prstGeom prst="rect">
            <a:avLst/>
          </a:prstGeom>
        </p:spPr>
      </p:pic>
      <p:sp>
        <p:nvSpPr>
          <p:cNvPr id="34" name="FigureCover image8.png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5" name="Figure image8.png" descr="Figure 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643626"/>
            <a:ext cx="3364992" cy="18450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Current Reduced-Form Evidence Already 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old deck 的结论，但把它们放到 reorganization 之后来讲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91056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91056"/>
            <a:ext cx="345643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7393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H1: MAH raises innovation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区域与企业层面的回归都支持 MAH 对创新数量、结构和质量具有正向作用。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798064"/>
            <a:ext cx="345643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809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effects are stronger where development and industry base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政策试点与更高发展阶段、更强产业基础的地区匹配时，创新效应更显著。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05072"/>
            <a:ext cx="345643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firm differentiation is the mechanism margin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创新提升并非均匀发生，而是更可能通过 rd-type 企业与组织重构传导出来。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08576" y="1700784"/>
            <a:ext cx="345643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18653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9065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91456" y="306982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91456" y="3574207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93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681728" y="5138928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中关于发展阶段匹配的图形证据</a:t>
            </a:r>
            <a:endParaRPr lang="en-US" sz="840" dirty="0"/>
          </a:p>
        </p:txBody>
      </p:sp>
      <p:sp>
        <p:nvSpPr>
          <p:cNvPr id="31" name="FigureCover image4.png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2" name="Figure image4.png" descr="Figure 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215067"/>
            <a:ext cx="3310128" cy="24095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Evidence: Event-Study Style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这两张图适合放在 transition / innovation dynamics 之后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目标不是让所有系数都显著，而是验证动态路径与政策时点对齐。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1817421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如果未来加入 state-transition event study，这一页就能和组织重构证据并排出现。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2960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05840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image9.png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6112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1（原 deck）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26864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9744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image10.png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700016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2（原 deck）</a:t>
            </a:r>
            <a:endParaRPr lang="en-US" sz="840" dirty="0"/>
          </a:p>
        </p:txBody>
      </p:sp>
      <p:sp>
        <p:nvSpPr>
          <p:cNvPr id="29" name="FigureCover image9.png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0" name="Figure image9.png" descr="Figure 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408637"/>
            <a:ext cx="3474720" cy="2534502"/>
          </a:xfrm>
          <a:prstGeom prst="rect">
            <a:avLst/>
          </a:prstGeom>
        </p:spPr>
      </p:pic>
      <p:sp>
        <p:nvSpPr>
          <p:cNvPr id="31" name="FigureCover image10.png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2" name="Figure image10.png" descr="Figure 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408637"/>
            <a:ext cx="3474720" cy="253450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Robustness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placebo 与分布式稳健性放在主结果后面即可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image11.jpeg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96112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density estimate / DID distribution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26864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9744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09744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image12.jpeg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700016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Placebo test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78992" y="5230368"/>
            <a:ext cx="6912864" cy="45720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5376672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这些图证明：现有 reduced-form 结果并不是完全由偶然分布或机械噪音驱动。新 deck 只需要把它们放在更靠后的“验证”位置。</a:t>
            </a:r>
            <a:endParaRPr lang="en-US" sz="1160" dirty="0"/>
          </a:p>
        </p:txBody>
      </p:sp>
      <p:sp>
        <p:nvSpPr>
          <p:cNvPr id="29" name="FigureCover image11.jpeg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0" name="Figure image11.jpeg" descr="Figure image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46594"/>
            <a:ext cx="3474720" cy="2527069"/>
          </a:xfrm>
          <a:prstGeom prst="rect">
            <a:avLst/>
          </a:prstGeom>
        </p:spPr>
      </p:pic>
      <p:sp>
        <p:nvSpPr>
          <p:cNvPr id="31" name="FigureCover image12.jpeg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2" name="Figure image12.jpeg" descr="Figure image1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046594"/>
            <a:ext cx="3474720" cy="252706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 and GE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把政策结论从“创新更多”改写成“净效应取决于两类力量的比较”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64208"/>
            <a:ext cx="17556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innovation gain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原研药 idea 更容易被商业化，长期创新激励更强。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743200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7556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reallocation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07792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与 manufacturing 的专业化分工提高了资源配置效率。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700016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64208"/>
            <a:ext cx="17556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Producer-side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64608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integrated producer 的利润与租金可能受到挤压。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56832" y="1664208"/>
            <a:ext cx="1335024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1664208"/>
            <a:ext cx="133502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Adjustment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21424" y="2139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组织边界重构本身有固定成本。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8992" y="3493008"/>
            <a:ext cx="6711696" cy="111556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03904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因此，MAH 的 welfare 结论应当写成条件性的：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如果创新与重配置带来的收益大于生产者利润损失和组织调整成本，净福利为正；反之则未必。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4956048"/>
            <a:ext cx="6766560" cy="52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这也解释了为什么 producer-side response 与 contract manufacturing evidence 很重要。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78992" y="5536794"/>
            <a:ext cx="676656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视角不是把模型做大，而是把政策影响的受益方与受损方同时纳入解释。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Mechanism and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一句话总结：MAH 改变的不只是创新激励，而是创新的组织方式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7315200" cy="80467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changes not only innovation incentives, but also the organization of innovation.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22128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reorganization、entry composition、innovation reallocation 放到同一条经验证据链里。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22128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contribution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6432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A/B/C 组织状态、implementation 选择与委托生产市场嵌到一个中等复杂度 GE 框架里。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742432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651760"/>
            <a:ext cx="22128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contribution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07024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MAH 解释成适宜当前发展阶段的制度供给，而不是孤立的审批便利化工具。</a:t>
            </a:r>
            <a:endParaRPr lang="en-US" sz="13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 deck 变成完整论文主线的最短路径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664208"/>
            <a:ext cx="16824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Lock the type rules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four-way classification 规则，并确保 pre / post 使用完全相同的判定标准。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724912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664208"/>
            <a:ext cx="16824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Build the transition panel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9504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pre / post transition matrices，再把 entry 从 switching 里拆出来。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08576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664208"/>
            <a:ext cx="168249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Add commercialization evidence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73168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补委托生产、持证、CMO / CDMO 与生产侧经营响应的文本或财务证据。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492240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64208"/>
            <a:ext cx="1682496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Finalize the model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56832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 reorganization 事实清楚后，再把 formal model 定稿，避免模型大于事实。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87552" y="4736592"/>
            <a:ext cx="7022592" cy="8412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56048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deck 已经把 old PPT 的背景、当前结果和新的 firm-transition / GE 叙事接到了一起。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制度改革与医药创新：基于MAH制度的分析</dc:title>
  <dc:subject>MAH制度、企业重组与医药创新</dc:subject>
  <dc:creator>OpenAI Codex</dc:creator>
  <cp:lastModifiedBy>OpenAI Codex</cp:lastModifiedBy>
  <cp:revision>1</cp:revision>
  <dcterms:created xsi:type="dcterms:W3CDTF">2026-03-21T05:34:42Z</dcterms:created>
  <dcterms:modified xsi:type="dcterms:W3CDTF">2026-03-21T05:34:42Z</dcterms:modified>
</cp:coreProperties>
</file>