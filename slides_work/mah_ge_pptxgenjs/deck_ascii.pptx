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89504" y="0"/>
            <a:ext cx="201168" cy="6858000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64592" cy="164592"/>
          </a:xfrm>
          <a:prstGeom prst="ellipse">
            <a:avLst/>
          </a:prstGeom>
          <a:solidFill>
            <a:srgbClr val="DDEDEE">
              <a:alpha val="70000"/>
            </a:srgbClr>
          </a:solidFill>
          <a:ln w="12700">
            <a:solidFill>
              <a:srgbClr val="DDED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457200"/>
            <a:ext cx="128016" cy="128016"/>
          </a:xfrm>
          <a:prstGeom prst="ellipse">
            <a:avLst/>
          </a:prstGeom>
          <a:solidFill>
            <a:srgbClr val="F3E4DA">
              <a:alpha val="76000"/>
            </a:srgbClr>
          </a:solidFill>
          <a:ln w="12700">
            <a:solidFill>
              <a:srgbClr val="F3E4D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MAH 制度的分析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从审批提速走向组织重构、状态转移与行业均衡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548640" y="498348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王勇    杨晨丹妮    陈思明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548640" y="523951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北京大学新结构经济学研究院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48640" y="5532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二〇二四年十月十五日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566160" y="85953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这次重构把旧 deck 的核心背景保留下来，但把主线改成：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1207008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207008"/>
            <a:ext cx="473659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1389888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MAH 不只影响审批速度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730752" y="1682496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它改变了谁能持证、谁能外包、谁能在不自建产能的情况下商业化原研药。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3566160" y="2359152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2359152"/>
            <a:ext cx="473659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2542032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重点从“企业分化”推进到“企业状态转移”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730752" y="2834640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真正要展示的是 A/B/C 类型之间如何进入、切换、退出，以及 entry composition 如何改变。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3566160" y="3511296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3511296"/>
            <a:ext cx="473659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3694176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结论从 PE 创新效应扩展到 GE / welfare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730752" y="3986784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创新增益、委托生产需求、生产者利润与净福利一起进入行业均衡的解释框架。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3566160" y="4828032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firm boundaries / 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93408" y="625449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PptxGenJS clean rebuild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MAH matters beyond approval speed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医药升级、强监管行业与制度供给的匹配问题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225296"/>
            <a:ext cx="1325880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26644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十四五 / 医药健康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66928" y="153619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“十四五”把医药健康列为生物经济重点领域，问题不只是多审快审，而是制度能否匹配产业升级。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6692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1965960"/>
            <a:ext cx="239572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产业升级压力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中国医药产业正经历“仿制药 -&gt; 创新药”“生产导向 -&gt; 研发导向”的升级，创新能否稳定转化成为核心约束。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2724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27248" y="1965960"/>
            <a:ext cx="239572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强监管并非背景噪音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29184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药品审评、持证资格、委托生产规则会直接影响谁能进入、谁能保有创新回报、谁有动力投资原研药。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8756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7568" y="1965960"/>
            <a:ext cx="239572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真正的问题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85216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在当前发展阶段，MAH 是否是一项更适宜的制度安排，并通过组织重构而不仅是审批提速来促进创新？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599432"/>
            <a:ext cx="7516368" cy="1097280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882896"/>
            <a:ext cx="6995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核心直觉：制度改革如果改变的是商业化摩擦与组织边界，那么最先出现的事实不应只是“创新更多”，而应是“谁在创新、谁在生产、谁在转型”发生变化。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Question and Difference from Jia et al. (2023)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从审批/区域创新故事推进到 firm boundaries 与行业均衡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335024"/>
            <a:ext cx="3611880" cy="4261104"/>
          </a:xfrm>
          <a:prstGeom prst="rect">
            <a:avLst/>
          </a:prstGeom>
          <a:solidFill>
            <a:srgbClr val="F8F6F1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335024"/>
            <a:ext cx="3611880" cy="109728"/>
          </a:xfrm>
          <a:prstGeom prst="rect">
            <a:avLst/>
          </a:prstGeom>
          <a:solidFill>
            <a:srgbClr val="D7D1C5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517904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已有文献更像在问什么？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0" y="1335024"/>
            <a:ext cx="3703320" cy="426110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335024"/>
            <a:ext cx="370332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517904"/>
            <a:ext cx="3374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这篇文章的新问题是什么？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1248" y="1874520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政策是否缩短审评时长、改善创新环境？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41248" y="2262835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区域或企业层面的创新申请是否增加？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41248" y="2651150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机制更多停留在审批、市场准入、企业性质等维度。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41248" y="3039466"/>
            <a:ext cx="3127248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解释通常是 partial equilibrium：政策冲击 -&gt; 创新结果。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4773168" y="1874520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是否改变了研发所有权与生产能力之间的制度边界？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773168" y="2477414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企业是否在 integrated / RD / production 之间发生重组与状态转移？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773168" y="3080309"/>
            <a:ext cx="3182112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创新增量来自 entrant composition、incumbent switching，还是两者共同作用？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4773168" y="3897782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 层面上，委托生产需求、生产者利润与净福利如何被重新分配？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4334256" y="1645920"/>
            <a:ext cx="0" cy="3584448"/>
          </a:xfrm>
          <a:prstGeom prst="line">
            <a:avLst/>
          </a:prstGeom>
          <a:noFill/>
          <a:ln w="15240">
            <a:solidFill>
              <a:srgbClr val="D7D1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892040"/>
            <a:ext cx="2907792" cy="38404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992624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旧主线：审批 / 创新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828032" y="4892040"/>
            <a:ext cx="3182112" cy="384048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992624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新主线：边界 / 重组 / GE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Industry Upgrade and Reform Background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deck 中最值得保留的事实基础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" y="1389888"/>
            <a:ext cx="4078224" cy="3986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463040"/>
            <a:ext cx="3931920" cy="36758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1554480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159562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59536" y="2904866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59536" y="3463016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image3.png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386169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749808" y="5212080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的药品注册申请趋势图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5047488" y="15727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2007 到 2023，医药创新活动与监管改革同步推进。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47488" y="2011680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产业升级方向已经从化学仿制药逐步走向创新药与生物药。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47488" y="2649728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 年后的药品审评审批改革，使 MAH 成为最关键的制度节点之一。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47488" y="3287776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因此需要把“创新数量上升”与“组织边界改变”放在同一张图里理解。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74336" y="4023360"/>
            <a:ext cx="29260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74336" y="4023360"/>
            <a:ext cx="2926080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420624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新叙事要做的不是替换背景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138928" y="449884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而是在这一背景之上，把故事从“改革促进创新”推进到“改革重写了谁能创新、谁能生产、谁能存活”。</a:t>
            </a:r>
            <a:endParaRPr lang="en-US" sz="12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Pre-MAH Bundled Regime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持证资格与生产能力捆绑，创新所有权难以独立保留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865376"/>
            <a:ext cx="164592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933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研发机构 / 实验室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24912" y="195681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163824" y="1865376"/>
            <a:ext cx="141732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成果转让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0" y="195681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93792" y="1755648"/>
            <a:ext cx="1847088" cy="676656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19933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生产企业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(持证 + 生产)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2761488"/>
            <a:ext cx="6126480" cy="1005840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3054096"/>
            <a:ext cx="5650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制度约束：若想获得最终市场回报，研发主体通常需要把成果转给具备生产资质的一体化企业，或者自己承担建厂与资质成本。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187184" y="1572768"/>
            <a:ext cx="1243584" cy="3584448"/>
          </a:xfrm>
          <a:prstGeom prst="rect">
            <a:avLst/>
          </a:prstGeom>
          <a:solidFill>
            <a:srgbClr val="F8F6F1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7184" y="1572768"/>
            <a:ext cx="1243584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51776" y="1755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7333488" y="2103120"/>
            <a:ext cx="932688" cy="47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创新所有权与产能绑定。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7333488" y="265013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商业化门槛高。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7333488" y="3015894"/>
            <a:ext cx="932688" cy="65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Integrated incumbents 更占优。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7333488" y="374497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委托生产市场不发达。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Post-MAH Separation of Ownership and Production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允许研发主体持证，生产可以外包给专业制造企业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792224"/>
            <a:ext cx="1865376" cy="65836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02082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持证主体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(研发机构 / 企业)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52928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182112" y="1865376"/>
            <a:ext cx="1719072" cy="512064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202082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保留所有权 / 持证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84064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13248" y="1792224"/>
            <a:ext cx="1993392" cy="65836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202082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委托生产企业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(CMO / CDMO)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2798064"/>
            <a:ext cx="6565392" cy="1042416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081528"/>
            <a:ext cx="6144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制度含义：原研药 idea 的商业化价值不再必须通过自建产能才能实现，MAH 把“持证”和“生产”拆开，委托制造开始有了市场。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44384" y="1499616"/>
            <a:ext cx="841248" cy="3822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44384" y="1499616"/>
            <a:ext cx="8412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08976" y="16824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7735824" y="206654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 保持持证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7735824" y="243230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生产专业化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7735824" y="279806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外包需求上升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7735824" y="316382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进入门槛下降</a:t>
            </a:r>
            <a:endParaRPr lang="en-US" sz="10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MECHANISM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Firm Differentiation to Firm-State Transitions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这是一张桥接 slide：把 old story 接到 new story 上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95344" y="1499616"/>
            <a:ext cx="1261872" cy="420624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95344" y="160934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integrated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53312" y="2761488"/>
            <a:ext cx="1335024" cy="420624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287121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B: RD type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19088" y="2761488"/>
            <a:ext cx="1481328" cy="420624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8712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 production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22192" y="4370832"/>
            <a:ext cx="1408176" cy="420624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448056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E: entrants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182112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77840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08960" y="3803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32704" y="3803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615184" y="24871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B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650992" y="24871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C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2596896" y="3456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→ A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650992" y="3456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→ A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41248" y="5074920"/>
            <a:ext cx="7333488" cy="749808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5074920"/>
            <a:ext cx="733348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257800"/>
            <a:ext cx="7004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的机制不是让企业“自动更创新”，而是先降低商业化摩擦和重组门槛，再诱导 entry、switching、outsourcing 与 survival 一起变化。</a:t>
            </a:r>
            <a:endParaRPr lang="en-US" sz="14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Empirical Classification and Theory Mapping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current four-way classification 翻译成理论状态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54480"/>
            <a:ext cx="1234440" cy="457200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700784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经验分类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984248" y="1554480"/>
            <a:ext cx="1920240" cy="45720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0824" y="170078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904488" y="1554480"/>
            <a:ext cx="1645920" cy="457200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41064" y="1700784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理论映射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550408" y="1554480"/>
            <a:ext cx="2697480" cy="45720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6984" y="1700784"/>
            <a:ext cx="2624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在新 deck 里的作用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49808" y="2011680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157984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1984248" y="2011680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215798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研发人员占优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3904488" y="2011680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215798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550408" y="2011680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2157984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最接近 theory 中的研发专门化企业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749808" y="2706624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852928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A8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1984248" y="2706624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285292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生产人员占优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3904488" y="2706624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28529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5550408" y="2706624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2852928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 outsourcing demand 的生产侧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749808" y="3401568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547872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140" dirty="0"/>
          </a:p>
        </p:txBody>
      </p:sp>
      <p:sp>
        <p:nvSpPr>
          <p:cNvPr id="37" name="Shape 35"/>
          <p:cNvSpPr/>
          <p:nvPr/>
        </p:nvSpPr>
        <p:spPr>
          <a:xfrm>
            <a:off x="1984248" y="3401568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57400" y="354787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研发与生产同时显著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3904488" y="3401568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354787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550408" y="3401568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3547872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经验上的 integrated type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749808" y="4096512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4242816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C6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140" dirty="0"/>
          </a:p>
        </p:txBody>
      </p:sp>
      <p:sp>
        <p:nvSpPr>
          <p:cNvPr id="45" name="Shape 43"/>
          <p:cNvSpPr/>
          <p:nvPr/>
        </p:nvSpPr>
        <p:spPr>
          <a:xfrm>
            <a:off x="1984248" y="4096512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57400" y="424281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短期重组状态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3904488" y="4096512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77640" y="424281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过渡状态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5550408" y="4096512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23560" y="4242816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保留在实证里，但不作为长期理论类型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841248" y="5010912"/>
            <a:ext cx="7242048" cy="74980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78992" y="527608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关键处理：把 empirical mix 解释为 integrated A，把 transition 解释为短期组织重构的观测状态。这样理论和实证就能对上。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First-Stage Facts Need to Show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first-stage empirical goal = reorganization, not only more innovation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1536192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536192"/>
            <a:ext cx="354787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71907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Type shares over time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2011680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 rd / prod / mix / transition 的占比路径，再看哪些变化是在 2016 以后加速的。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4572000" y="1536192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536192"/>
            <a:ext cx="35478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71907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Transition matrices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36592" y="2011680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重点不是把所有数字都做满，而是盯住 mix→rd、mix→prod、prod→mix、rd→mix 以及各类型 exit。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768096" y="3236976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236976"/>
            <a:ext cx="354787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4198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Entry composition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32688" y="3712464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entry→rd/prod/mix/transition 单独拿出来；不要和 incumbent switching 混在一起解释。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4572000" y="3236976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3236976"/>
            <a:ext cx="3547872" cy="109728"/>
          </a:xfrm>
          <a:prstGeom prst="rect">
            <a:avLst/>
          </a:prstGeom>
          <a:solidFill>
            <a:srgbClr val="D8B36A"/>
          </a:solidFill>
          <a:ln w="12700">
            <a:solidFill>
              <a:srgbClr val="D8B3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34198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Innovation reallocation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736592" y="3712464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把创新数量、创新质量和创新份额按类型拆开，看增量来自“更多 rd firms”还是“rd 内部更强”。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987552" y="5047488"/>
            <a:ext cx="6931152" cy="713232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3856" y="5285232"/>
            <a:ext cx="6601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只有把这四层事实串起来，MAH 的机制故事才会从“创新回归”变成“行业组织重构”。</a:t>
            </a:r>
            <a:endParaRPr lang="en-US" sz="14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Pre-Policy Transition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基线矩阵先看稳定性、退出与 within-regime transitions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517904"/>
            <a:ext cx="5413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Pre-policy row-share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19072"/>
            <a:ext cx="5413248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19072"/>
            <a:ext cx="5413248" cy="40233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rd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695651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3939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prod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58079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907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mix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6593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421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trans.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351069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9357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exit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22960" y="2121408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121408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38887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10512" y="2121408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95651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1371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8079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651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6593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165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51069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6789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2802636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2802636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307009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810512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6232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5651" y="2802636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1371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8079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651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6593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165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51069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6789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" y="3483864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3483864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5132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1810512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6232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695651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1371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580790" y="3483864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651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65930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165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51069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6789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2960" y="4165092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4165092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" y="443255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1810512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56232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695651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1371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80790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2651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65930" y="4165092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1165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51069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6789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73952" y="1700784"/>
            <a:ext cx="1719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3952" y="1700784"/>
            <a:ext cx="17190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18836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操作规则</a:t>
            </a:r>
            <a:endParaRPr lang="en-US" sz="1280" dirty="0"/>
          </a:p>
        </p:txBody>
      </p:sp>
      <p:sp>
        <p:nvSpPr>
          <p:cNvPr id="79" name="Text 77"/>
          <p:cNvSpPr/>
          <p:nvPr/>
        </p:nvSpPr>
        <p:spPr>
          <a:xfrm>
            <a:off x="6620256" y="2231136"/>
            <a:ext cx="1389888" cy="62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 origin years = 2011-2014。</a:t>
            </a:r>
            <a:endParaRPr lang="en-US" sz="1060" dirty="0"/>
          </a:p>
        </p:txBody>
      </p:sp>
      <p:sp>
        <p:nvSpPr>
          <p:cNvPr id="80" name="Text 78"/>
          <p:cNvSpPr/>
          <p:nvPr/>
        </p:nvSpPr>
        <p:spPr>
          <a:xfrm>
            <a:off x="6620256" y="2921813"/>
            <a:ext cx="1389888" cy="798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不要让 2015→2016 跨制度阶段污染 pre matrix。</a:t>
            </a:r>
            <a:endParaRPr lang="en-US" sz="1060" dirty="0"/>
          </a:p>
        </p:txBody>
      </p:sp>
      <p:sp>
        <p:nvSpPr>
          <p:cNvPr id="81" name="Text 79"/>
          <p:cNvSpPr/>
          <p:nvPr/>
        </p:nvSpPr>
        <p:spPr>
          <a:xfrm>
            <a:off x="6620256" y="3784803"/>
            <a:ext cx="1389888" cy="62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counts，再做 row shares。</a:t>
            </a:r>
            <a:endParaRPr lang="en-US" sz="1060" dirty="0"/>
          </a:p>
        </p:txBody>
      </p:sp>
      <p:sp>
        <p:nvSpPr>
          <p:cNvPr id="82" name="Text 80"/>
          <p:cNvSpPr/>
          <p:nvPr/>
        </p:nvSpPr>
        <p:spPr>
          <a:xfrm>
            <a:off x="6620256" y="4475480"/>
            <a:ext cx="1389888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这一页最重要的是读对角线与 exit。</a:t>
            </a:r>
            <a:endParaRPr lang="en-US" sz="1060" dirty="0"/>
          </a:p>
        </p:txBody>
      </p:sp>
      <p:sp>
        <p:nvSpPr>
          <p:cNvPr id="83" name="Shape 81"/>
          <p:cNvSpPr/>
          <p:nvPr/>
        </p:nvSpPr>
        <p:spPr>
          <a:xfrm>
            <a:off x="914400" y="5157216"/>
            <a:ext cx="5193792" cy="457200"/>
          </a:xfrm>
          <a:prstGeom prst="rect">
            <a:avLst/>
          </a:prstGeom>
          <a:solidFill>
            <a:srgbClr val="E6ECD8"/>
          </a:solidFill>
          <a:ln w="12700">
            <a:solidFill>
              <a:srgbClr val="E6ECD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60704" y="5303520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7A8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这一页目前放的是模板结构，等 firm-year panel 固定后直接回填真实 row shares。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Post-Policy Transition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重点不在“全部都变”，而在关键方向的概率是否上升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517904"/>
            <a:ext cx="5413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Post-policy row-share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19072"/>
            <a:ext cx="5413248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19072"/>
            <a:ext cx="5413248" cy="40233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rd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695651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3939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prod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58079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907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mix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6593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421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trans.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351069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9357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exit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22960" y="2121408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121408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38887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10512" y="2121408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95651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1371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80790" y="2121408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651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46593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165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51069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6789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2802636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2802636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307009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810512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6232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5651" y="2802636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1371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80790" y="2802636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651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46593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165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51069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6789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" y="3483864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3483864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5132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1810512" y="3483864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6232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695651" y="3483864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1371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580790" y="3483864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651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65930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165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51069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6789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2960" y="4165092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4165092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" y="443255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1810512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56232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695651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1371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80790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2651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65930" y="4165092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1165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51069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6789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73952" y="1700784"/>
            <a:ext cx="1719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3952" y="1700784"/>
            <a:ext cx="171907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18836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280" dirty="0"/>
          </a:p>
        </p:txBody>
      </p:sp>
      <p:sp>
        <p:nvSpPr>
          <p:cNvPr id="79" name="Text 77"/>
          <p:cNvSpPr/>
          <p:nvPr/>
        </p:nvSpPr>
        <p:spPr>
          <a:xfrm>
            <a:off x="6620256" y="2139696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 years = 2016-2022。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620256" y="2773680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post，再拆 pilot / national。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620256" y="3407664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比较关键 off-diagonal row shares。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620256" y="4041648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低频转型时再做 hazard / cumulative。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14400" y="5157216"/>
            <a:ext cx="5193792" cy="457200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5840" y="530352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如果政策后只是“创新更多”但组织方向不变，GE 叙事就站不住；所以关键是把这页做成机制证据而不是装饰。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Composition Must Be Separated from Incumbent Switching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这两条边际在经济学上完全不同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609344"/>
            <a:ext cx="3383280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609344"/>
            <a:ext cx="338328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92224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margin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207008" y="2487168"/>
            <a:ext cx="1170432" cy="384048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257860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42032" y="25603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816352" y="2176272"/>
            <a:ext cx="859536" cy="347472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6352" y="2249424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816352" y="2688336"/>
            <a:ext cx="859536" cy="347472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276148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816352" y="3200400"/>
            <a:ext cx="859536" cy="347472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3273552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816352" y="3712464"/>
            <a:ext cx="859536" cy="347472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378561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60704" y="4224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问题：政策后新进入者是否更偏向 rd / biotech / 原研药导向？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4572000" y="1609344"/>
            <a:ext cx="3657600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609344"/>
            <a:ext cx="365760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179222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Incumbent switching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016752" y="2157984"/>
            <a:ext cx="914400" cy="384048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2249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65776" y="3127248"/>
            <a:ext cx="914400" cy="38404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65776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967728" y="3127248"/>
            <a:ext cx="914400" cy="38404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577840" y="2596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↙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76288" y="2596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77840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76288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↖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956048" y="422452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问题：现有企业是否因为 MAH 更容易专业化、重新整合或退出？</a:t>
            </a:r>
            <a:endParaRPr lang="en-US" sz="1320" dirty="0"/>
          </a:p>
        </p:txBody>
      </p:sp>
      <p:sp>
        <p:nvSpPr>
          <p:cNvPr id="40" name="Shape 38"/>
          <p:cNvSpPr/>
          <p:nvPr/>
        </p:nvSpPr>
        <p:spPr>
          <a:xfrm>
            <a:off x="1005840" y="5285232"/>
            <a:ext cx="7095744" cy="384048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5568" y="540410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 not mix these margins. entry composition tells us who wants to join the market; incumbent switching tells us how existing firms reorganize.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Descriptive Differentiation Evidence Already Visible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deck 里已有一张很有用的不同类型企业数量变化趋势图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17904"/>
            <a:ext cx="4187952" cy="4133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591056"/>
            <a:ext cx="4041648" cy="3822192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168249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172364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932688" y="3088477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932688" y="3667110"/>
            <a:ext cx="3822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image5.jpeg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9264" y="4080419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041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的不同类型企业数量变化趋势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5230368" y="1554480"/>
            <a:ext cx="2779776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0368" y="1554480"/>
            <a:ext cx="277977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73736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we can already say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394960" y="202996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这张图至少表明“企业分化”并不是抽象概念，而是 deck 中已经出现的描述性事实。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5266944" y="2926080"/>
            <a:ext cx="2688336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下一步要把数量趋势升级成 type shares over time。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266944" y="3538118"/>
            <a:ext cx="2688336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再把创新按类型拆开，看增量究竟来自谁。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5266944" y="3935578"/>
            <a:ext cx="268833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之后再放 transition matrix 与 entry composition，整条事实链就能闭合。</a:t>
            </a:r>
            <a:endParaRPr lang="en-US" sz="13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弱整合的新结构经济学版本：development stage + organizational choice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1609344"/>
            <a:ext cx="213969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609344"/>
            <a:ext cx="213969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7922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variables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208483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企业能力 z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 xi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制度变量 M ∈ {0,1}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090672" y="1609344"/>
            <a:ext cx="213969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90672" y="1609344"/>
            <a:ext cx="2139696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17922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Active types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255264" y="208483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integrated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RD specialized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= production specialized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13248" y="1609344"/>
            <a:ext cx="268833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3248" y="1609344"/>
            <a:ext cx="2688336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79222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Outcomes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577840" y="2084832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/ exit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 profits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 welfare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19072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059936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56832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50976" y="3895344"/>
            <a:ext cx="7077456" cy="118872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5296" y="4224528"/>
            <a:ext cx="6528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逻辑链： 发展阶段与制度适配 -&gt; 商业化摩擦下降 / 重组门槛下降 -&gt; A/B/C 之间的进入、切换与退出 -&gt; 创新与行业均衡重排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Timing and Key Choices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把模型收成 JDE-friendly 的中等复杂度版本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901952"/>
            <a:ext cx="178308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Entry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50976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潜在进入者 E 决定是否以 B / C 进入。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2596896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34640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1901952"/>
            <a:ext cx="1783080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Idea &amp; implementation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999232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产生 idea，并决定外包给 C 还是转回 A。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4645152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82896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82896" y="1901952"/>
            <a:ext cx="178308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Switching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047488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A/B/C 在组织边界之间做离散调整。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6693408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31152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31152" y="1901952"/>
            <a:ext cx="1783080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95744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Exit / stationary equilibrium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095744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存活、退出与分布共同决定行业稳态。</a:t>
            </a:r>
            <a:endParaRPr lang="en-US" sz="1260" dirty="0"/>
          </a:p>
        </p:txBody>
      </p:sp>
      <p:sp>
        <p:nvSpPr>
          <p:cNvPr id="30" name="Shape 28"/>
          <p:cNvSpPr/>
          <p:nvPr/>
        </p:nvSpPr>
        <p:spPr>
          <a:xfrm>
            <a:off x="914400" y="5010912"/>
            <a:ext cx="7187184" cy="621792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212080"/>
            <a:ext cx="6821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这四块已经足够：三类企业 + implementation 选择 + 状态转移 + 委托生产市场清算。没有必要再把融资合同或复杂并购结构塞进主模型。</a:t>
            </a:r>
            <a:endParaRPr lang="en-US" sz="13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Institutional Fit and Reduced Frictions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把“适宜制度安排”写成 commercialization friction 与 switching cost 的下降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72768"/>
            <a:ext cx="3438144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572768"/>
            <a:ext cx="3438144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556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Reduced-form objects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2121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Lambda(z, xi)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4140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institutional fit between firm capability and development stage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4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tau(z, xi, M) = base tau - M * Delta_tau * Lambda(z, xi)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1005840" y="3456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4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kappa_sj(z, xi, M) = base kappa_sj - M * Delta_sj * Lambda(z, xi)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4572000" y="1572768"/>
            <a:ext cx="3547872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572768"/>
            <a:ext cx="35478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75564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Interpretation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809744" y="2066544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降低 B 型企业把原研药 idea 商业化的制度摩擦 tau。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4809744" y="2685085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也降低 A/B/C 之间离散重组的门槛 kappa_sj。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4809744" y="3303626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发展阶段越高、企业能力越强，这两个渠道的政策效应越大。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4809744" y="3922166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这就是“有为政府 + 有效市场”进入模型的地方。</a:t>
            </a:r>
            <a:endParaRPr lang="en-US" sz="13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 Manufacturing Market and 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的商业化选择与 C 的受托生产能力在行业内部清算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50976" y="1938528"/>
            <a:ext cx="1481328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665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B: generate ideas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60320" y="20299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980944" y="1938528"/>
            <a:ext cx="182880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0944" y="20665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 choice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10912" y="20299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68112" y="1938528"/>
            <a:ext cx="1700784" cy="457200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206654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 manufacturing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24128" y="2743200"/>
            <a:ext cx="6199632" cy="1133856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35024" y="3127248"/>
            <a:ext cx="5559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F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Market-clearing condition: D_m(p_m, xi; M) = S_m(p_m, xi; w)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7388352" y="1700784"/>
            <a:ext cx="841248" cy="3584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88352" y="1700784"/>
            <a:ext cx="841248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188366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7479792" y="2157984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 profits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7479792" y="2678989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outsourcing demand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7479792" y="3199994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composition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7479792" y="3720998"/>
            <a:ext cx="640080" cy="616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 and welfare</a:t>
            </a:r>
            <a:endParaRPr lang="en-US" sz="10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Transitions, Stationary Equilibrium, and Welfare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净福利是正效应与负效应比较后的条件性结论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77824" y="1956816"/>
            <a:ext cx="1024128" cy="384048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0482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56816" y="201168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322576" y="1572768"/>
            <a:ext cx="914400" cy="384048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22576" y="1664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22576" y="2304288"/>
            <a:ext cx="914400" cy="38404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22576" y="2395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22576" y="3035808"/>
            <a:ext cx="914400" cy="38404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22576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11296" y="223113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11296" y="29626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68496" y="2724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07408" y="2615184"/>
            <a:ext cx="1097280" cy="402336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2715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stationary dist.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32704" y="2724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053328" y="2615184"/>
            <a:ext cx="1078992" cy="402336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27157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welfare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296912" y="1499616"/>
            <a:ext cx="914400" cy="3913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96912" y="1499616"/>
            <a:ext cx="91440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61504" y="168249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/ -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7388352" y="1993392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innovation gain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7388352" y="2520899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reallocation gain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7388352" y="3048406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producer loss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7388352" y="3575914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adjustment cost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877824" y="5413248"/>
            <a:ext cx="6254496" cy="256032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5486400"/>
            <a:ext cx="5961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message: welfare is not automatically positive; it depends on whether innovation and reallocation gains dominate producer-side losses and reorganization costs.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Empirical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事实先行：先把 reduced-form、transition 和 reorganization 做扎实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426464"/>
            <a:ext cx="7424928" cy="67665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426464"/>
            <a:ext cx="742492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09344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当前最优组合不是先冲完整结构模型，而是：DID / event study + transition matrices + commercialization 证据 + 中等复杂度行业模型。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86384" y="2340864"/>
            <a:ext cx="3511296" cy="26151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250545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254660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69264" y="333463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969264" y="370076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image7.png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96227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859536" y="4791456"/>
            <a:ext cx="3364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区域层面模型设定（原 deck 截图）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4608576" y="2340864"/>
            <a:ext cx="3511296" cy="26151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1728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250545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54660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791456" y="333463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4791456" y="370076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image8.png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396227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4681728" y="4791456"/>
            <a:ext cx="3364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企业层面模型设定（原 deck 截图）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896112" y="510235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区域层面：看 MAH 对创新数量、结构、质量，以及与发展阶段匹配度的交互效应。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4736592" y="5102352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企业层面：看 MAH 是否通过企业分化和 rd-type 企业扩张来推动创新。</a:t>
            </a:r>
            <a:endParaRPr lang="en-US" sz="11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Current Reduced-Form Evidence Already Says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old deck 的结论，但把它们放到 reorganization 之后来讲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91056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591056"/>
            <a:ext cx="345643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73936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H1: MAH raises innovation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14400" y="2066544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区域与企业层面的回归都支持 MAH 对创新数量、结构和质量具有正向作用。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49808" y="2798064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2798064"/>
            <a:ext cx="345643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8094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H2: effects are stronger where development and industry base fit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3273552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政策试点与更高发展阶段、更强产业基础的地区匹配时，创新效应更显著。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749808" y="4005072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005072"/>
            <a:ext cx="345643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8795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H3: firm differentiation is the mechanism margin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" y="4480560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创新提升并非均匀发生，而是更可能通过 rd-type 企业与组织重构传导出来。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4608576" y="1700784"/>
            <a:ext cx="3456432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1773936"/>
            <a:ext cx="3310128" cy="3291840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9744" y="18653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19065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791456" y="3069824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4791456" y="3574207"/>
            <a:ext cx="3090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image4.png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3934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4681728" y="5138928"/>
            <a:ext cx="3310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中关于发展阶段匹配的图形证据</a:t>
            </a:r>
            <a:endParaRPr lang="en-US" sz="8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Evidence: Event-Study Style Validation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这两张图适合放在 transition / innovation dynamics 之后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444752"/>
            <a:ext cx="731520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目标不是让所有系数都显著，而是验证动态路径与政策时点对齐。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804672" y="1817421"/>
            <a:ext cx="731520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如果未来加入 state-transition event study，这一页就能和组织重构证据并排出现。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22960" y="215798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23225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3637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005840" y="337413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1005840" y="382219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image9.png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" y="41422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896112" y="519379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事件研究图 1（原 deck）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4626864" y="215798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0016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3225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3637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809744" y="337413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4809744" y="382219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image10.png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1422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4700016" y="519379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事件研究图 2（原 deck）</a:t>
            </a:r>
            <a:endParaRPr lang="en-US" sz="8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Robustness Checks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placebo 与分布式稳健性放在主结果后面即可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79222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195681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199796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005840" y="300837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45643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image11.jpeg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2416" y="37764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96112" y="482803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 density estimate / DID distribution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4626864" y="179222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8032" y="195681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99796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809744" y="300837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4809744" y="345643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image12.jpeg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7764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4700016" y="482803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Placebo test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1078992" y="5230368"/>
            <a:ext cx="6912864" cy="457200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25296" y="5376672"/>
            <a:ext cx="6620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这些图证明：现有 reduced-form 结果并不是完全由偶然分布或机械噪音驱动。新 deck 只需要把它们放在更靠后的“验证”位置。</a:t>
            </a:r>
            <a:endParaRPr lang="en-US" sz="11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DISCUSSION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Welfare and GE Interpretation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把政策结论从“创新更多”改写成“净效应取决于两类力量的比较”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664208"/>
            <a:ext cx="175564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innovation gain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50976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原研药 idea 更容易被商业化，长期创新激励更强。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2743200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1664208"/>
            <a:ext cx="175564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 reallocation gain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907792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 与 manufacturing 的专业化分工提高了资源配置效率。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700016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664208"/>
            <a:ext cx="17556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Producer-side loss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864608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integrated producer 的利润与租金可能受到挤压。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656832" y="1664208"/>
            <a:ext cx="1335024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56832" y="1664208"/>
            <a:ext cx="1335024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1424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Adjustment cost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821424" y="213969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组织边界重构本身有固定成本。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1078992" y="3493008"/>
            <a:ext cx="6711696" cy="111556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3803904"/>
            <a:ext cx="6163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因此，MAH 的 welfare 结论应当写成条件性的：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如果创新与重配置带来的收益大于生产者利润损失和组织调整成本，净福利为正；反之则未必。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8992" y="4956048"/>
            <a:ext cx="6766560" cy="525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这也解释了为什么 producer-side response 与 contract manufacturing evidence 很重要。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1078992" y="5536794"/>
            <a:ext cx="676656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 视角不是把模型做大，而是把政策影响的受益方与受损方同时纳入解释。</a:t>
            </a:r>
            <a:endParaRPr lang="en-US" sz="12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Mechanism and Contribution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一句话总结：MAH 改变的不只是创新激励，而是创新的组织方式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444752"/>
            <a:ext cx="7315200" cy="804672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719072"/>
            <a:ext cx="6839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changes not only innovation incentives, but also the organization of innovation.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1248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2651760"/>
            <a:ext cx="221284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 contribution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05840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reorganization、entry composition、innovation reallocation 放到同一条经验证据链里。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3291840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651760"/>
            <a:ext cx="22128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Theory contribution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456432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A/B/C 组织状态、implementation 选择与委托生产市场嵌到一个中等复杂度 GE 框架里。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5742432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42432" y="2651760"/>
            <a:ext cx="221284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07024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contribution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907024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MAH 解释成适宜当前发展阶段的制度供给，而不是孤立的审批便利化工具。</a:t>
            </a:r>
            <a:endParaRPr lang="en-US" sz="13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把新 deck 变成完整论文主线的最短路径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1664208"/>
            <a:ext cx="168249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Lock the type rules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four-way classification 规则，并确保 pre / post 使用完全相同的判定标准。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2724912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4912" y="1664208"/>
            <a:ext cx="1682496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9504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Build the transition panel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889504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pre / post transition matrices，再把 entry 从 switching 里拆出来。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4608576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1664208"/>
            <a:ext cx="1682496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Add commercialization evidence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773168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补委托生产、持证、CMO / CDMO 与生产侧经营响应的文本或财务证据。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6492240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1664208"/>
            <a:ext cx="1682496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Finalize the model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656832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只有在 reorganization 事实清楚后，再把 formal model 定稿，避免模型大于事实。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987552" y="4736592"/>
            <a:ext cx="7022592" cy="84124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956048"/>
            <a:ext cx="6620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这版 deck 已经把 old PPT 的背景、当前结果和新的 firm-transition / GE 叙事接到了一起。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制度改革与医药创新：基于MAH制度的分析</dc:title>
  <dc:subject>MAH制度、企业重组与医药创新</dc:subject>
  <dc:creator>OpenAI Codex</dc:creator>
  <cp:lastModifiedBy>OpenAI Codex</cp:lastModifiedBy>
  <cp:revision>1</cp:revision>
  <dcterms:created xsi:type="dcterms:W3CDTF">2026-03-21T05:34:42Z</dcterms:created>
  <dcterms:modified xsi:type="dcterms:W3CDTF">2026-03-21T05:34:42Z</dcterms:modified>
</cp:coreProperties>
</file>